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72" r:id="rId9"/>
    <p:sldId id="261" r:id="rId10"/>
    <p:sldId id="273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917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175" y="1815465"/>
            <a:ext cx="75075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Performance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66583" y="2516505"/>
            <a:ext cx="30108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– Flipkart SQL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75866" y="3141345"/>
            <a:ext cx="319214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Time, Delays &amp; On-Time Delivery Metrics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top 3 warehouses with highest average processing time.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total vs. delayed shipments for each warehouse.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bottleneck warehouses using CTEs (processing time &gt; global average).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warehouses based on on-time delivery percentage using window functions.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4050"/>
            <a:ext cx="7780020" cy="1512094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88544"/>
            <a:ext cx="7780020" cy="1197531"/>
          </a:xfrm>
          <a:prstGeom prst="roundRect">
            <a:avLst>
              <a:gd name="adj" fmla="val 30543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4.1: Top 3 Warehouses by Processing Time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8496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below calculates average processing time (Order_Date to Actual_Delivery_Date) for each warehouse.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2076450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Warehouse_ID,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90600" y="2325529"/>
            <a:ext cx="73915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AVG(DATEDIFF(Actual_Delivery_Date, Order_Date)) AS avg_processing_days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00100" y="2574608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flipkart_orders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00100" y="2823687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Warehouse_ID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00100" y="3072765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avg_processing_days DESC LIMIT 3;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62000" y="3740944"/>
            <a:ext cx="762472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62000" y="4000738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WH_02: 5.30 days (SLOWEST)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2000" y="4221242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WH_10: 4.83 days (SLOW)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62000" y="4441746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WH_06: 4.74 days (SLOW)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F51236-5B68-E0F1-A0AC-D767EBC5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21872"/>
            <a:ext cx="7505114" cy="42216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19C0AE-28A6-FEBF-5C50-77B22327A4D2}"/>
              </a:ext>
            </a:extLst>
          </p:cNvPr>
          <p:cNvSpPr txBox="1"/>
          <p:nvPr/>
        </p:nvSpPr>
        <p:spPr>
          <a:xfrm>
            <a:off x="640080" y="225083"/>
            <a:ext cx="8018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4.1: Screenshot of Top 3 Warehouses by Processing Time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95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780020" cy="1991201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656172"/>
            <a:ext cx="7780020" cy="1197531"/>
          </a:xfrm>
          <a:prstGeom prst="roundRect">
            <a:avLst>
              <a:gd name="adj" fmla="val 30543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4.2: Total vs Delayed Shipments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query calculates the percentage of delayed shipments (Actual &gt; Expected) for each warehouse.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664970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Warehouse_ID, COUNT(*) AS total_shipments,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90600" y="1914049"/>
            <a:ext cx="73915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SUM(CASE WHEN DATEDIFF(Actual_Delivery_Date,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181100" y="2163127"/>
            <a:ext cx="719724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Expected_Delivery_Date) &gt; 0 THEN 1 ELSE 0 END) AS delayed_shipments,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90600" y="2412206"/>
            <a:ext cx="73915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ROUND(SUM(...)*100.0/COUNT(*), 2) AS delay_percentage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00100" y="2661285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flipkart_orders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00100" y="2910364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Warehouse_ID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00100" y="3159443"/>
            <a:ext cx="758586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delay_percentage DESC;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2000" y="3808572"/>
            <a:ext cx="762472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(Top 3 Most Delayed):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62000" y="4068366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WH_10: 36.67% delayed (11 of 30)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62000" y="4288871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WH_03: 36.00% delayed (9 of 25)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62000" y="4509374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WH_02: 33.33% delayed (9 of 27)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799759-E725-5BDE-F499-F800FBC37671}"/>
              </a:ext>
            </a:extLst>
          </p:cNvPr>
          <p:cNvSpPr txBox="1"/>
          <p:nvPr/>
        </p:nvSpPr>
        <p:spPr>
          <a:xfrm>
            <a:off x="787791" y="246185"/>
            <a:ext cx="6428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4.2: Screenshot of Total vs Delayed Shipments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5F6B60-AF88-A997-65F6-467A116EA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892516"/>
            <a:ext cx="7519182" cy="42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4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570"/>
            <a:ext cx="7780020" cy="2524125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189095"/>
            <a:ext cx="7780020" cy="1418034"/>
          </a:xfrm>
          <a:prstGeom prst="roundRect">
            <a:avLst>
              <a:gd name="adj" fmla="val 25793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4.3: Bottleneck Warehouses (CTE)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Table Expression identifies warehouses with processing time exceeding the global average (4.51 days).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664970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warehouse_processing AS (</a:t>
            </a:r>
            <a:endParaRPr lang="en-US" sz="1056" dirty="0"/>
          </a:p>
        </p:txBody>
      </p:sp>
      <p:sp>
        <p:nvSpPr>
          <p:cNvPr id="7" name="Text 5"/>
          <p:cNvSpPr/>
          <p:nvPr/>
        </p:nvSpPr>
        <p:spPr>
          <a:xfrm>
            <a:off x="990600" y="1890713"/>
            <a:ext cx="739155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Warehouse_ID, AVG(DATEDIFF(Actual_Delivery_Date, Order_Date)) AS avg_processing_days,</a:t>
            </a:r>
            <a:endParaRPr lang="en-US" sz="1056" dirty="0"/>
          </a:p>
        </p:txBody>
      </p:sp>
      <p:sp>
        <p:nvSpPr>
          <p:cNvPr id="8" name="Text 6"/>
          <p:cNvSpPr/>
          <p:nvPr/>
        </p:nvSpPr>
        <p:spPr>
          <a:xfrm>
            <a:off x="1181100" y="2116455"/>
            <a:ext cx="719724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AS total_orders</a:t>
            </a:r>
            <a:endParaRPr lang="en-US" sz="1056" dirty="0"/>
          </a:p>
        </p:txBody>
      </p:sp>
      <p:sp>
        <p:nvSpPr>
          <p:cNvPr id="9" name="Text 7"/>
          <p:cNvSpPr/>
          <p:nvPr/>
        </p:nvSpPr>
        <p:spPr>
          <a:xfrm>
            <a:off x="990600" y="2342199"/>
            <a:ext cx="739155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flipkart_orders GROUP BY Warehouse_ID),</a:t>
            </a:r>
            <a:endParaRPr lang="en-US" sz="1056" dirty="0"/>
          </a:p>
        </p:txBody>
      </p:sp>
      <p:sp>
        <p:nvSpPr>
          <p:cNvPr id="10" name="Text 8"/>
          <p:cNvSpPr/>
          <p:nvPr/>
        </p:nvSpPr>
        <p:spPr>
          <a:xfrm>
            <a:off x="800100" y="2567941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global_avg AS (</a:t>
            </a:r>
            <a:endParaRPr lang="en-US" sz="1056" dirty="0"/>
          </a:p>
        </p:txBody>
      </p:sp>
      <p:sp>
        <p:nvSpPr>
          <p:cNvPr id="11" name="Text 9"/>
          <p:cNvSpPr/>
          <p:nvPr/>
        </p:nvSpPr>
        <p:spPr>
          <a:xfrm>
            <a:off x="990600" y="2793683"/>
            <a:ext cx="739155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AVG(DATEDIFF(Actual_Delivery_Date, Order_Date)) AS global_avg_processing FROM flipkart_orders)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800100" y="3019425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wp.Warehouse_ID, wp.avg_processing_days, ga.global_avg_processing,</a:t>
            </a:r>
            <a:endParaRPr lang="en-US" sz="1056" dirty="0"/>
          </a:p>
        </p:txBody>
      </p:sp>
      <p:sp>
        <p:nvSpPr>
          <p:cNvPr id="13" name="Text 11"/>
          <p:cNvSpPr/>
          <p:nvPr/>
        </p:nvSpPr>
        <p:spPr>
          <a:xfrm>
            <a:off x="990600" y="3245167"/>
            <a:ext cx="739155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ROUND((wp.avg_processing_days - ga.global_avg_processing), 2) AS days_above_average</a:t>
            </a:r>
            <a:endParaRPr lang="en-US" sz="1056" dirty="0"/>
          </a:p>
        </p:txBody>
      </p:sp>
      <p:sp>
        <p:nvSpPr>
          <p:cNvPr id="14" name="Text 12"/>
          <p:cNvSpPr/>
          <p:nvPr/>
        </p:nvSpPr>
        <p:spPr>
          <a:xfrm>
            <a:off x="800100" y="3470911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warehouse_processing wp CROSS JOIN global_avg ga</a:t>
            </a:r>
            <a:endParaRPr lang="en-US" sz="1056" dirty="0"/>
          </a:p>
        </p:txBody>
      </p:sp>
      <p:sp>
        <p:nvSpPr>
          <p:cNvPr id="15" name="Text 13"/>
          <p:cNvSpPr/>
          <p:nvPr/>
        </p:nvSpPr>
        <p:spPr>
          <a:xfrm>
            <a:off x="800100" y="3696653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wp.avg_processing_days &gt; ga.global_avg_processing;</a:t>
            </a:r>
            <a:endParaRPr lang="en-US" sz="1056" dirty="0"/>
          </a:p>
        </p:txBody>
      </p:sp>
      <p:sp>
        <p:nvSpPr>
          <p:cNvPr id="16" name="Text 14"/>
          <p:cNvSpPr/>
          <p:nvPr/>
        </p:nvSpPr>
        <p:spPr>
          <a:xfrm>
            <a:off x="762000" y="4341495"/>
            <a:ext cx="762472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(4 Bottleneck Warehouses):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762000" y="4601289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WH_02: 5.30 days (+0.79 above average)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62000" y="4821794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WH_10: 4.83 days (+0.33 above average)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62000" y="5042297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WH_06: 4.74 days (+0.23 above average)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62000" y="5262802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WH_05: 4.69 days (+0.18 above average)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4432A-6583-F66A-18E0-44B54EF5B757}"/>
              </a:ext>
            </a:extLst>
          </p:cNvPr>
          <p:cNvSpPr txBox="1"/>
          <p:nvPr/>
        </p:nvSpPr>
        <p:spPr>
          <a:xfrm>
            <a:off x="316523" y="267286"/>
            <a:ext cx="760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4.3: Screenshot of Bottleneck Warehouses (CTE)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B4B0DC-6479-24A5-424F-7944F732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" y="910004"/>
            <a:ext cx="7526215" cy="42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2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4050"/>
            <a:ext cx="7780020" cy="2034540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110991"/>
            <a:ext cx="7780020" cy="1418034"/>
          </a:xfrm>
          <a:prstGeom prst="roundRect">
            <a:avLst>
              <a:gd name="adj" fmla="val 25793"/>
            </a:avLst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4.4: On-Time Delivery Ranking (Window Function)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584961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OVER clause assigns ranking to warehouses based on on-time delivery percentage (Actual ≤ Expected).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2076450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Warehouse_ID, COUNT(*) AS total_orders,</a:t>
            </a:r>
            <a:endParaRPr lang="en-US" sz="1056" dirty="0"/>
          </a:p>
        </p:txBody>
      </p:sp>
      <p:sp>
        <p:nvSpPr>
          <p:cNvPr id="7" name="Text 5"/>
          <p:cNvSpPr/>
          <p:nvPr/>
        </p:nvSpPr>
        <p:spPr>
          <a:xfrm>
            <a:off x="990600" y="2302192"/>
            <a:ext cx="7246620" cy="375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SUM(CASE WHEN DATEDIFF(Actual_Delivery_Date, Expected_Delivery_Date) ≤ 0 THEN 1 ELSE 0 END) AS on_time_orders,</a:t>
            </a:r>
            <a:endParaRPr lang="en-US" sz="1056" dirty="0"/>
          </a:p>
        </p:txBody>
      </p:sp>
      <p:sp>
        <p:nvSpPr>
          <p:cNvPr id="8" name="Text 6"/>
          <p:cNvSpPr/>
          <p:nvPr/>
        </p:nvSpPr>
        <p:spPr>
          <a:xfrm>
            <a:off x="990600" y="2715578"/>
            <a:ext cx="739155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ROUND(SUM(...)*100.0/COUNT(*), 2) AS on_time_percentage,</a:t>
            </a:r>
            <a:endParaRPr lang="en-US" sz="1056" dirty="0"/>
          </a:p>
        </p:txBody>
      </p:sp>
      <p:sp>
        <p:nvSpPr>
          <p:cNvPr id="9" name="Text 7"/>
          <p:cNvSpPr/>
          <p:nvPr/>
        </p:nvSpPr>
        <p:spPr>
          <a:xfrm>
            <a:off x="990600" y="2941320"/>
            <a:ext cx="739155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OVER (ORDER BY on_time_percentage DESC) AS on_time_rank</a:t>
            </a:r>
            <a:endParaRPr lang="en-US" sz="1056" dirty="0"/>
          </a:p>
        </p:txBody>
      </p:sp>
      <p:sp>
        <p:nvSpPr>
          <p:cNvPr id="10" name="Text 8"/>
          <p:cNvSpPr/>
          <p:nvPr/>
        </p:nvSpPr>
        <p:spPr>
          <a:xfrm>
            <a:off x="800100" y="3167063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flipkart_orders</a:t>
            </a:r>
            <a:endParaRPr lang="en-US" sz="1056" dirty="0"/>
          </a:p>
        </p:txBody>
      </p:sp>
      <p:sp>
        <p:nvSpPr>
          <p:cNvPr id="11" name="Text 9"/>
          <p:cNvSpPr/>
          <p:nvPr/>
        </p:nvSpPr>
        <p:spPr>
          <a:xfrm>
            <a:off x="800100" y="3392805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Warehouse_ID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800100" y="3618549"/>
            <a:ext cx="7585862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8"/>
              </a:lnSpc>
              <a:buNone/>
            </a:pPr>
            <a:r>
              <a:rPr lang="en-US" sz="1056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on_time_percentage DESC;</a:t>
            </a:r>
            <a:endParaRPr lang="en-US" sz="1056" dirty="0"/>
          </a:p>
        </p:txBody>
      </p:sp>
      <p:sp>
        <p:nvSpPr>
          <p:cNvPr id="13" name="Text 11"/>
          <p:cNvSpPr/>
          <p:nvPr/>
        </p:nvSpPr>
        <p:spPr>
          <a:xfrm>
            <a:off x="762000" y="4263391"/>
            <a:ext cx="762472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(Top &amp; Bottom 5 Warehouses):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62000" y="4523184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1: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WH_09 - 83.72% on-time (36/43 orders)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62000" y="4743690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2: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WH_06 - 77.78% on-time (21/27 orders)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62000" y="4964192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(Ranks 3-9)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62000" y="5184695"/>
            <a:ext cx="762472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10:</a:t>
            </a: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WH_10 - 63.33% on-time (19/30 orders)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FBD615-1E4B-5E40-8B83-C804789ED396}"/>
              </a:ext>
            </a:extLst>
          </p:cNvPr>
          <p:cNvSpPr txBox="1"/>
          <p:nvPr/>
        </p:nvSpPr>
        <p:spPr>
          <a:xfrm>
            <a:off x="611945" y="239151"/>
            <a:ext cx="7568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4.4: Screenshot of On-Time Delivery Ranking (Window Function)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CC16BA-8308-E0D8-D50F-9B972B80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91" y="1084092"/>
            <a:ext cx="7216726" cy="405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2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822960"/>
          </a:xfrm>
          <a:prstGeom prst="rect">
            <a:avLst/>
          </a:prstGeom>
          <a:solidFill>
            <a:srgbClr val="FEE2E2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25041"/>
            <a:ext cx="7924800" cy="822960"/>
          </a:xfrm>
          <a:prstGeom prst="rect">
            <a:avLst/>
          </a:prstGeom>
          <a:solidFill>
            <a:srgbClr val="FED7AA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00400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Key Findings &amp; Patterns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1554482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Problem Warehouse (WH_02):</a:t>
            </a: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5.30 days processing, 33.33% delays, 66.67% on-time (Rank 8)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2529841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At-Risk Warehouse (WH_10):</a:t>
            </a: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4.83 days processing, 36.67% delays, 63.33% on-time (Rank 10)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3505200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Best Performer (WH_09):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43 orders, only 16.28% delays, 83.72% on-time (Rank 1)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Warehouse Optimization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1 - WH_02 (CRITICAL):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5.30 to 4.51 days. Audit inventory management, staffing, and order processing workflow.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2 - WH_10 (HIGH):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Address 36.67% delay rate. Implement time-window adjustments and increase delivery agents.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3 - WH_03: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36% delays. Review order-to-dispatch process for bottlenecks.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Template: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WH_09 process model (83.72% on-time) as benchmark for others.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Target:</a:t>
            </a: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bottleneck warehouses from 4 to 0 within 30 days. Achieve &gt;80% on-time for all warehouses.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25041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00400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75759"/>
            <a:ext cx="7924800" cy="822960"/>
          </a:xfrm>
          <a:prstGeom prst="rect">
            <a:avLst/>
          </a:prstGeom>
          <a:solidFill>
            <a:srgbClr val="DBEAFE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4-Week Implementation Plan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1554482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Root cause analysis for WH_02, WH_10, WH_03 (inventory, staffing, equipment)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529841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process improvements (staff retraining, workflow optimization, tech upgrades)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500" y="3505200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KPIs and measure improvement in processing time and on-time delivery 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4480559"/>
            <a:ext cx="74226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12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warehouses processing time &lt; 4.51 days, on-time delivery &gt; 80%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7602" y="609600"/>
            <a:ext cx="38487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49508" y="1325882"/>
            <a:ext cx="60449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Identified 3 slowest warehouses (WH_02, WH_10, WH_06)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49508" y="1767841"/>
            <a:ext cx="60449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Found 4 bottleneck warehouses exceeding global average (4.51 days)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49508" y="2209800"/>
            <a:ext cx="60449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Ranked all warehouses by on-time delivery (WH_09: 83.72%, WH_10: 63.33%)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49508" y="2651759"/>
            <a:ext cx="60449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Priority Action: Focus on WH_02 &amp; WH_10 for immediate performance improvement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1105</Words>
  <Application>Microsoft Office PowerPoint</Application>
  <PresentationFormat>On-screen Show (16:9)</PresentationFormat>
  <Paragraphs>97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annapurnamandal16@gmail.com</cp:lastModifiedBy>
  <cp:revision>3</cp:revision>
  <dcterms:created xsi:type="dcterms:W3CDTF">2025-12-08T10:48:40Z</dcterms:created>
  <dcterms:modified xsi:type="dcterms:W3CDTF">2025-12-13T14:27:36Z</dcterms:modified>
</cp:coreProperties>
</file>