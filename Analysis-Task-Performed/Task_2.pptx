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8" r:id="rId5"/>
    <p:sldId id="259" r:id="rId6"/>
    <p:sldId id="260" r:id="rId7"/>
    <p:sldId id="267" r:id="rId8"/>
    <p:sldId id="261" r:id="rId9"/>
    <p:sldId id="263" r:id="rId10"/>
    <p:sldId id="266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70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Macro-Enabled_Worksheet.xlsm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5354" y="1815465"/>
            <a:ext cx="70332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Flipkart Delivery Delay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481193" y="2516505"/>
            <a:ext cx="2181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– SQL Project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77636" y="3141345"/>
            <a:ext cx="298860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Orders, Routes &amp; Warehouse-wise Delay Insights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delivery delay in days for each order using order dates.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top 10 delayed routes based on average delay days.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all orders by delay within each warehouse using window functions.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39240"/>
            <a:ext cx="7924800" cy="299466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1: Delivery Delay Per Order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8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query below computes the delay in days by comparing actual and expected delivery dates.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44040"/>
            <a:ext cx="7315200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70"/>
              </a:lnSpc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    </a:t>
            </a:r>
            <a:r>
              <a:rPr lang="en-US" sz="10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Order_ID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</a:p>
          <a:p>
            <a:pPr>
              <a:lnSpc>
                <a:spcPts val="1470"/>
              </a:lnSpc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lang="en-US" sz="10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Order_Date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</a:p>
          <a:p>
            <a:pPr>
              <a:lnSpc>
                <a:spcPts val="1470"/>
              </a:lnSpc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lang="en-US" sz="10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Expected_Delivery_Date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</a:p>
          <a:p>
            <a:pPr>
              <a:lnSpc>
                <a:spcPts val="1470"/>
              </a:lnSpc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lang="en-US" sz="10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Actual_Delivery_Date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 </a:t>
            </a:r>
          </a:p>
          <a:p>
            <a:pPr>
              <a:lnSpc>
                <a:spcPts val="1470"/>
              </a:lnSpc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DATEDIFF(</a:t>
            </a:r>
            <a:r>
              <a:rPr lang="en-US" sz="10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Actual_Delivery_Date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Expected_Delivery_Date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</a:p>
          <a:p>
            <a:pPr>
              <a:lnSpc>
                <a:spcPts val="1470"/>
              </a:lnSpc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</a:t>
            </a:r>
            <a:r>
              <a:rPr lang="en-US" sz="10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Delivery_Delay_Days</a:t>
            </a:r>
            <a:endParaRPr lang="en-US" sz="1050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1470"/>
              </a:lnSpc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</a:t>
            </a:r>
            <a:r>
              <a:rPr lang="en-US" sz="10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flipkart_orders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D60D6D-0EEB-54D8-6BD1-2C355F290D58}"/>
              </a:ext>
            </a:extLst>
          </p:cNvPr>
          <p:cNvSpPr txBox="1"/>
          <p:nvPr/>
        </p:nvSpPr>
        <p:spPr>
          <a:xfrm>
            <a:off x="1012874" y="302455"/>
            <a:ext cx="5718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1: Screenshot of  Delivery Delay Per Order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5BA41F-0453-A10F-339B-351D5E2CE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6917"/>
            <a:ext cx="7673926" cy="431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67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39240"/>
            <a:ext cx="7924800" cy="299466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Sample: Delivery Delay Per Order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8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of calculated delay days for  few orders: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29D9A5-FC5A-4A62-85D5-C795DD9BD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41938"/>
            <a:ext cx="7924800" cy="30919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7059" y="1433439"/>
            <a:ext cx="7924800" cy="322326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2: Top 10 Delayed Routes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query joins orders with routes and calculates average delay per route.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4684" y="1799199"/>
            <a:ext cx="6761870" cy="261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70"/>
              </a:lnSpc>
            </a:pPr>
            <a:r>
              <a:rPr lang="en-US" sz="1050" dirty="0"/>
              <a:t>  SELECT     </a:t>
            </a:r>
            <a:r>
              <a:rPr lang="en-US" sz="1050" dirty="0" err="1"/>
              <a:t>r.Route_ID</a:t>
            </a:r>
            <a:r>
              <a:rPr lang="en-US" sz="1050" dirty="0"/>
              <a:t>,  </a:t>
            </a:r>
          </a:p>
          <a:p>
            <a:pPr>
              <a:lnSpc>
                <a:spcPts val="1470"/>
              </a:lnSpc>
            </a:pPr>
            <a:r>
              <a:rPr lang="en-US" sz="1050" dirty="0"/>
              <a:t>  </a:t>
            </a:r>
            <a:r>
              <a:rPr lang="en-US" sz="1050" dirty="0" err="1"/>
              <a:t>r.Start_Location</a:t>
            </a:r>
            <a:r>
              <a:rPr lang="en-US" sz="1050" dirty="0"/>
              <a:t>,   </a:t>
            </a:r>
          </a:p>
          <a:p>
            <a:pPr>
              <a:lnSpc>
                <a:spcPts val="1470"/>
              </a:lnSpc>
            </a:pPr>
            <a:r>
              <a:rPr lang="en-US" sz="1050" dirty="0"/>
              <a:t>  </a:t>
            </a:r>
            <a:r>
              <a:rPr lang="en-US" sz="1050" dirty="0" err="1"/>
              <a:t>r.End_Location</a:t>
            </a:r>
            <a:r>
              <a:rPr lang="en-US" sz="1050" dirty="0"/>
              <a:t>, </a:t>
            </a:r>
          </a:p>
          <a:p>
            <a:pPr>
              <a:lnSpc>
                <a:spcPts val="1470"/>
              </a:lnSpc>
            </a:pPr>
            <a:r>
              <a:rPr lang="en-US" sz="1050" dirty="0"/>
              <a:t>  AVG(GREATEST(DATEDIFF(</a:t>
            </a:r>
            <a:r>
              <a:rPr lang="en-US" sz="1050" dirty="0" err="1"/>
              <a:t>o.Actual_Delivery_Date</a:t>
            </a:r>
            <a:r>
              <a:rPr lang="en-US" sz="1050" dirty="0"/>
              <a:t>, </a:t>
            </a:r>
            <a:r>
              <a:rPr lang="en-US" sz="1050" dirty="0" err="1"/>
              <a:t>o.Expected_Delivery_Date</a:t>
            </a:r>
            <a:r>
              <a:rPr lang="en-US" sz="1050" dirty="0"/>
              <a:t>),0))      AS </a:t>
            </a:r>
            <a:r>
              <a:rPr lang="en-US" sz="1050" dirty="0" err="1"/>
              <a:t>Avg_Delay_Days</a:t>
            </a:r>
            <a:endParaRPr lang="en-US" sz="1050" dirty="0"/>
          </a:p>
          <a:p>
            <a:pPr>
              <a:lnSpc>
                <a:spcPts val="1470"/>
              </a:lnSpc>
            </a:pPr>
            <a:r>
              <a:rPr lang="en-US" sz="1050" dirty="0"/>
              <a:t>  FROM </a:t>
            </a:r>
            <a:r>
              <a:rPr lang="en-US" sz="1050" dirty="0" err="1"/>
              <a:t>flipkart_orders</a:t>
            </a:r>
            <a:r>
              <a:rPr lang="en-US" sz="1050" dirty="0"/>
              <a:t> o</a:t>
            </a:r>
          </a:p>
          <a:p>
            <a:pPr>
              <a:lnSpc>
                <a:spcPts val="1470"/>
              </a:lnSpc>
            </a:pPr>
            <a:r>
              <a:rPr lang="en-US" sz="1050" dirty="0"/>
              <a:t>JOIN </a:t>
            </a:r>
            <a:r>
              <a:rPr lang="en-US" sz="1050" dirty="0" err="1"/>
              <a:t>flipkart_routes</a:t>
            </a:r>
            <a:r>
              <a:rPr lang="en-US" sz="1050" dirty="0"/>
              <a:t> r  </a:t>
            </a:r>
          </a:p>
          <a:p>
            <a:pPr>
              <a:lnSpc>
                <a:spcPts val="1470"/>
              </a:lnSpc>
            </a:pPr>
            <a:r>
              <a:rPr lang="en-US" sz="1050" dirty="0"/>
              <a:t> ON </a:t>
            </a:r>
            <a:r>
              <a:rPr lang="en-US" sz="1050" dirty="0" err="1"/>
              <a:t>o.Route_ID</a:t>
            </a:r>
            <a:r>
              <a:rPr lang="en-US" sz="1050" dirty="0"/>
              <a:t> = </a:t>
            </a:r>
            <a:r>
              <a:rPr lang="en-US" sz="1050" dirty="0" err="1"/>
              <a:t>r.Route_IDGROUP</a:t>
            </a:r>
            <a:r>
              <a:rPr lang="en-US" sz="1050" dirty="0"/>
              <a:t> BY </a:t>
            </a:r>
            <a:r>
              <a:rPr lang="en-US" sz="1050" dirty="0" err="1"/>
              <a:t>r.Route_ID</a:t>
            </a:r>
            <a:r>
              <a:rPr lang="en-US" sz="1050" dirty="0"/>
              <a:t>, </a:t>
            </a:r>
            <a:r>
              <a:rPr lang="en-US" sz="1050" dirty="0" err="1"/>
              <a:t>r.Start_Location</a:t>
            </a:r>
            <a:r>
              <a:rPr lang="en-US" sz="1050" dirty="0"/>
              <a:t>, </a:t>
            </a:r>
            <a:r>
              <a:rPr lang="en-US" sz="1050" dirty="0" err="1"/>
              <a:t>r.End_Location</a:t>
            </a:r>
            <a:endParaRPr lang="en-US" sz="1050" dirty="0"/>
          </a:p>
          <a:p>
            <a:pPr>
              <a:lnSpc>
                <a:spcPts val="1470"/>
              </a:lnSpc>
            </a:pPr>
            <a:r>
              <a:rPr lang="en-US" sz="1050" dirty="0"/>
              <a:t>ORDER BY </a:t>
            </a:r>
            <a:r>
              <a:rPr lang="en-US" sz="1050" dirty="0" err="1"/>
              <a:t>Avg_Delay_Days</a:t>
            </a:r>
            <a:r>
              <a:rPr lang="en-US" sz="1050" dirty="0"/>
              <a:t> DESC</a:t>
            </a:r>
          </a:p>
          <a:p>
            <a:pPr>
              <a:lnSpc>
                <a:spcPts val="1470"/>
              </a:lnSpc>
            </a:pPr>
            <a:r>
              <a:rPr lang="en-US" sz="1050" dirty="0"/>
              <a:t>LIMIT 10;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070D6E-0A0A-B521-C96D-556704F1B17A}"/>
              </a:ext>
            </a:extLst>
          </p:cNvPr>
          <p:cNvSpPr txBox="1"/>
          <p:nvPr/>
        </p:nvSpPr>
        <p:spPr>
          <a:xfrm>
            <a:off x="829994" y="288388"/>
            <a:ext cx="6604781" cy="45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240"/>
              </a:lnSpc>
            </a:pPr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2: Screenshot of Top 10 Delayed Routes</a:t>
            </a: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0ADABD-5733-489E-1082-04C47999B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35" y="803177"/>
            <a:ext cx="7716129" cy="434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02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39241"/>
            <a:ext cx="7924800" cy="299466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Top 10 Delayed Routes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summary of the most delayed routes by average delay days:</a:t>
            </a:r>
            <a:endParaRPr lang="en-US" sz="120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0C4D89F-449C-A079-CDC3-44A4D9F489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364362"/>
              </p:ext>
            </p:extLst>
          </p:nvPr>
        </p:nvGraphicFramePr>
        <p:xfrm>
          <a:off x="2644677" y="1844334"/>
          <a:ext cx="3369261" cy="2384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2445914" imgH="2019221" progId="Excel.SheetMacroEnabled.12">
                  <p:embed/>
                </p:oleObj>
              </mc:Choice>
              <mc:Fallback>
                <p:oleObj name="Macro-Enabled Worksheet" r:id="rId3" imgW="2445914" imgH="2019221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44677" y="1844334"/>
                        <a:ext cx="3369261" cy="23844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85" y="1466851"/>
            <a:ext cx="7924800" cy="299466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3: Rank Orders Within Each Warehouse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function ranks orders by delay days inside each warehouse.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44041"/>
            <a:ext cx="7315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endParaRPr 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5C57EF-BE6C-1168-267A-104A565E9285}"/>
              </a:ext>
            </a:extLst>
          </p:cNvPr>
          <p:cNvSpPr txBox="1"/>
          <p:nvPr/>
        </p:nvSpPr>
        <p:spPr>
          <a:xfrm>
            <a:off x="398585" y="1845492"/>
            <a:ext cx="7315200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SELECT</a:t>
            </a:r>
          </a:p>
          <a:p>
            <a:r>
              <a:rPr lang="en-IN" sz="1050" dirty="0"/>
              <a:t>   </a:t>
            </a:r>
            <a:r>
              <a:rPr lang="en-IN" sz="1050" dirty="0" err="1"/>
              <a:t>w.Warehouse_ID</a:t>
            </a:r>
            <a:r>
              <a:rPr lang="en-IN" sz="1050" dirty="0"/>
              <a:t>,  </a:t>
            </a:r>
          </a:p>
          <a:p>
            <a:r>
              <a:rPr lang="en-IN" sz="1050" dirty="0"/>
              <a:t>  </a:t>
            </a:r>
            <a:r>
              <a:rPr lang="en-IN" sz="1050" dirty="0" err="1"/>
              <a:t>w.Warehouse_Name</a:t>
            </a:r>
            <a:r>
              <a:rPr lang="en-IN" sz="1050" dirty="0"/>
              <a:t>,  </a:t>
            </a:r>
          </a:p>
          <a:p>
            <a:r>
              <a:rPr lang="en-IN" sz="1050" dirty="0"/>
              <a:t>  </a:t>
            </a:r>
            <a:r>
              <a:rPr lang="en-IN" sz="1050" dirty="0" err="1"/>
              <a:t>o.Order_ID</a:t>
            </a:r>
            <a:r>
              <a:rPr lang="en-IN" sz="1050" dirty="0"/>
              <a:t>,  </a:t>
            </a:r>
          </a:p>
          <a:p>
            <a:r>
              <a:rPr lang="en-IN" sz="1050" dirty="0"/>
              <a:t>  </a:t>
            </a:r>
            <a:r>
              <a:rPr lang="en-IN" sz="1050" dirty="0" err="1"/>
              <a:t>o.Route_ID</a:t>
            </a:r>
            <a:r>
              <a:rPr lang="en-IN" sz="1050" dirty="0"/>
              <a:t>,  </a:t>
            </a:r>
          </a:p>
          <a:p>
            <a:r>
              <a:rPr lang="en-IN" sz="1050" dirty="0"/>
              <a:t>  GREATEST(DATEDIFF(</a:t>
            </a:r>
            <a:r>
              <a:rPr lang="en-IN" sz="1050" dirty="0" err="1"/>
              <a:t>o.Actual_Delivery_Date</a:t>
            </a:r>
            <a:r>
              <a:rPr lang="en-IN" sz="1050" dirty="0"/>
              <a:t>, </a:t>
            </a:r>
            <a:r>
              <a:rPr lang="en-IN" sz="1050" dirty="0" err="1"/>
              <a:t>o.Expected_Delivery_Date</a:t>
            </a:r>
            <a:r>
              <a:rPr lang="en-IN" sz="1050" dirty="0"/>
              <a:t>), 0) AS </a:t>
            </a:r>
            <a:r>
              <a:rPr lang="en-IN" sz="1050" dirty="0" err="1"/>
              <a:t>Delivery_Delay_Days</a:t>
            </a:r>
            <a:r>
              <a:rPr lang="en-IN" sz="1050" dirty="0"/>
              <a:t>,   </a:t>
            </a:r>
          </a:p>
          <a:p>
            <a:r>
              <a:rPr lang="en-IN" sz="1050" dirty="0"/>
              <a:t> RANK() OVER (       </a:t>
            </a:r>
          </a:p>
          <a:p>
            <a:r>
              <a:rPr lang="en-IN" sz="1050" dirty="0"/>
              <a:t> PARTITION BY </a:t>
            </a:r>
            <a:r>
              <a:rPr lang="en-IN" sz="1050" dirty="0" err="1"/>
              <a:t>w.Warehouse_ID</a:t>
            </a:r>
            <a:r>
              <a:rPr lang="en-IN" sz="1050" dirty="0"/>
              <a:t>       </a:t>
            </a:r>
          </a:p>
          <a:p>
            <a:r>
              <a:rPr lang="en-IN" sz="1050" dirty="0"/>
              <a:t>  ORDER BY GREATEST(DATEDIFF(</a:t>
            </a:r>
            <a:r>
              <a:rPr lang="en-IN" sz="1050" dirty="0" err="1"/>
              <a:t>o.Actual_Delivery_Date</a:t>
            </a:r>
            <a:r>
              <a:rPr lang="en-IN" sz="1050" dirty="0"/>
              <a:t>, </a:t>
            </a:r>
            <a:r>
              <a:rPr lang="en-IN" sz="1050" dirty="0" err="1"/>
              <a:t>o.Expected_Delivery_Date</a:t>
            </a:r>
            <a:r>
              <a:rPr lang="en-IN" sz="1050" dirty="0"/>
              <a:t>), 0) DESC </a:t>
            </a:r>
          </a:p>
          <a:p>
            <a:r>
              <a:rPr lang="en-IN" sz="1050" dirty="0"/>
              <a:t>   ) AS </a:t>
            </a:r>
            <a:r>
              <a:rPr lang="en-IN" sz="1050" dirty="0" err="1"/>
              <a:t>Delay_Rank_In_Warehouse</a:t>
            </a:r>
            <a:endParaRPr lang="en-IN" sz="1050" dirty="0"/>
          </a:p>
          <a:p>
            <a:r>
              <a:rPr lang="en-IN" sz="1050" dirty="0"/>
              <a:t>FROM </a:t>
            </a:r>
            <a:r>
              <a:rPr lang="en-IN" sz="1050" dirty="0" err="1"/>
              <a:t>flipkart_orders</a:t>
            </a:r>
            <a:r>
              <a:rPr lang="en-IN" sz="1050" dirty="0"/>
              <a:t> </a:t>
            </a:r>
            <a:r>
              <a:rPr lang="en-IN" sz="1050" dirty="0" err="1"/>
              <a:t>oJOIN</a:t>
            </a:r>
            <a:r>
              <a:rPr lang="en-IN" sz="1050" dirty="0"/>
              <a:t> </a:t>
            </a:r>
            <a:r>
              <a:rPr lang="en-IN" sz="1050" dirty="0" err="1"/>
              <a:t>flipkart_warehouses</a:t>
            </a:r>
            <a:r>
              <a:rPr lang="en-IN" sz="1050" dirty="0"/>
              <a:t> w    ON </a:t>
            </a:r>
            <a:r>
              <a:rPr lang="en-IN" sz="1050" dirty="0" err="1"/>
              <a:t>o.Warehouse_ID</a:t>
            </a:r>
            <a:r>
              <a:rPr lang="en-IN" sz="1050" dirty="0"/>
              <a:t> = </a:t>
            </a:r>
            <a:r>
              <a:rPr lang="en-IN" sz="1050" dirty="0" err="1"/>
              <a:t>w.Warehouse_ID</a:t>
            </a:r>
            <a:r>
              <a:rPr lang="en-IN" sz="1050" dirty="0"/>
              <a:t>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657A21-2346-6098-967B-F0B046AE6DFE}"/>
              </a:ext>
            </a:extLst>
          </p:cNvPr>
          <p:cNvSpPr txBox="1"/>
          <p:nvPr/>
        </p:nvSpPr>
        <p:spPr>
          <a:xfrm>
            <a:off x="1097280" y="365760"/>
            <a:ext cx="6499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3: Screenshot of Rank Orders Within Each Warehouse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58F760-60B9-C127-9CC7-4971B7507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253" y="1059473"/>
            <a:ext cx="7047914" cy="396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49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39241"/>
            <a:ext cx="7924800" cy="299466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Sample: Warehouse-wise Ranking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ranking of delayed orders within a warehouse:</a:t>
            </a: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F1AF48-0C65-EF22-97EA-0A4F7A8C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" y="2094914"/>
            <a:ext cx="6850380" cy="20650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Findings-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days can be monitored at order level using simple date differences.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delayed routes (e.g., RT_14, RT_11) should be reviewed for process or route optimization.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Warehouse-wise ranking helps identify critical delayed orders to prioritize.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538</Words>
  <Application>Microsoft Office PowerPoint</Application>
  <PresentationFormat>On-screen Show (16:9)</PresentationFormat>
  <Paragraphs>62</Paragraphs>
  <Slides>12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Office Theme</vt:lpstr>
      <vt:lpstr>Macro-Enabled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annapurnamandal16@gmail.com</cp:lastModifiedBy>
  <cp:revision>4</cp:revision>
  <dcterms:created xsi:type="dcterms:W3CDTF">2025-12-08T09:13:35Z</dcterms:created>
  <dcterms:modified xsi:type="dcterms:W3CDTF">2025-12-13T14:18:30Z</dcterms:modified>
</cp:coreProperties>
</file>